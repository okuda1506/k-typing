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01fe6297624e67" /><Relationship Type="http://schemas.openxmlformats.org/officeDocument/2006/relationships/extended-properties" Target="/docProps/app.xml" Id="Re7d69fb9359c434a" /><Relationship Type="http://schemas.openxmlformats.org/officeDocument/2006/relationships/officeDocument" Target="/ppt/presentation.xml" Id="R4f471348395d4e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bb96942bbe840d7"/>
  </p:sldMasterIdLst>
  <p:notesMasterIdLst>
    <p:notesMasterId xmlns:r="http://schemas.openxmlformats.org/officeDocument/2006/relationships" r:id="R2cb1e44e0b624d7a"/>
  </p:notesMasterIdLst>
  <p:sldIdLst>
    <p:sldId xmlns:r="http://schemas.openxmlformats.org/officeDocument/2006/relationships" id="256" r:id="R43a368b4bb084bde"/>
    <p:sldId xmlns:r="http://schemas.openxmlformats.org/officeDocument/2006/relationships" id="257" r:id="Rea61dcc8723f4728"/>
    <p:sldId xmlns:r="http://schemas.openxmlformats.org/officeDocument/2006/relationships" id="258" r:id="R9eeaad000ec940a5"/>
    <p:sldId xmlns:r="http://schemas.openxmlformats.org/officeDocument/2006/relationships" id="259" r:id="Rb9d62ab649b5489a"/>
    <p:sldId xmlns:r="http://schemas.openxmlformats.org/officeDocument/2006/relationships" id="260" r:id="R7309626973c049dc"/>
    <p:sldId xmlns:r="http://schemas.openxmlformats.org/officeDocument/2006/relationships" id="261" r:id="R81ec58b5b5284c55"/>
    <p:sldId xmlns:r="http://schemas.openxmlformats.org/officeDocument/2006/relationships" id="262" r:id="R5390287ec0634c23"/>
    <p:sldId xmlns:r="http://schemas.openxmlformats.org/officeDocument/2006/relationships" id="263" r:id="Re109cb17cf424fa3"/>
    <p:sldId xmlns:r="http://schemas.openxmlformats.org/officeDocument/2006/relationships" id="264" r:id="R9465474436604c88"/>
    <p:sldId xmlns:r="http://schemas.openxmlformats.org/officeDocument/2006/relationships" id="265" r:id="R2441024d37be41d2"/>
    <p:sldId xmlns:r="http://schemas.openxmlformats.org/officeDocument/2006/relationships" id="266" r:id="R7276c5a9c9f0445a"/>
    <p:sldId xmlns:r="http://schemas.openxmlformats.org/officeDocument/2006/relationships" id="267" r:id="Rddacd978f44c40fe"/>
    <p:sldId xmlns:r="http://schemas.openxmlformats.org/officeDocument/2006/relationships" id="268" r:id="R1beceb91bc1744d8"/>
    <p:sldId xmlns:r="http://schemas.openxmlformats.org/officeDocument/2006/relationships" id="269" r:id="R5993b3ce18204e5d"/>
    <p:sldId xmlns:r="http://schemas.openxmlformats.org/officeDocument/2006/relationships" id="270" r:id="Rad85163f3ced44b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b96942bbe840d7" /><Relationship Type="http://schemas.openxmlformats.org/officeDocument/2006/relationships/theme" Target="/ppt/theme/theme1.xml" Id="R45c995da759f4017" /><Relationship Type="http://schemas.openxmlformats.org/officeDocument/2006/relationships/notesMaster" Target="/ppt/notesMasters/notesMaster1.xml" Id="R2cb1e44e0b624d7a" /><Relationship Type="http://schemas.openxmlformats.org/officeDocument/2006/relationships/presProps" Target="/ppt/presProps.xml" Id="R32b3245ee6384703" /><Relationship Type="http://schemas.openxmlformats.org/officeDocument/2006/relationships/viewProps" Target="/ppt/viewProps.xml" Id="Rb84fc816298a45d6" /><Relationship Type="http://schemas.openxmlformats.org/officeDocument/2006/relationships/tableStyles" Target="/ppt/tableStyles.xml" Id="Rca24347d73424683" /><Relationship Type="http://schemas.openxmlformats.org/officeDocument/2006/relationships/slide" Target="/ppt/slides/slide1.xml" Id="R43a368b4bb084bde" /><Relationship Type="http://schemas.openxmlformats.org/officeDocument/2006/relationships/slide" Target="/ppt/slides/slide2.xml" Id="Rea61dcc8723f4728" /><Relationship Type="http://schemas.openxmlformats.org/officeDocument/2006/relationships/slide" Target="/ppt/slides/slide3.xml" Id="R9eeaad000ec940a5" /><Relationship Type="http://schemas.openxmlformats.org/officeDocument/2006/relationships/slide" Target="/ppt/slides/slide4.xml" Id="Rb9d62ab649b5489a" /><Relationship Type="http://schemas.openxmlformats.org/officeDocument/2006/relationships/slide" Target="/ppt/slides/slide5.xml" Id="R7309626973c049dc" /><Relationship Type="http://schemas.openxmlformats.org/officeDocument/2006/relationships/slide" Target="/ppt/slides/slide6.xml" Id="R81ec58b5b5284c55" /><Relationship Type="http://schemas.openxmlformats.org/officeDocument/2006/relationships/slide" Target="/ppt/slides/slide7.xml" Id="R5390287ec0634c23" /><Relationship Type="http://schemas.openxmlformats.org/officeDocument/2006/relationships/slide" Target="/ppt/slides/slide8.xml" Id="Re109cb17cf424fa3" /><Relationship Type="http://schemas.openxmlformats.org/officeDocument/2006/relationships/slide" Target="/ppt/slides/slide9.xml" Id="R9465474436604c88" /><Relationship Type="http://schemas.openxmlformats.org/officeDocument/2006/relationships/slide" Target="/ppt/slides/slide10.xml" Id="R2441024d37be41d2" /><Relationship Type="http://schemas.openxmlformats.org/officeDocument/2006/relationships/slide" Target="/ppt/slides/slide11.xml" Id="R7276c5a9c9f0445a" /><Relationship Type="http://schemas.openxmlformats.org/officeDocument/2006/relationships/slide" Target="/ppt/slides/slide12.xml" Id="Rddacd978f44c40fe" /><Relationship Type="http://schemas.openxmlformats.org/officeDocument/2006/relationships/slide" Target="/ppt/slides/slide13.xml" Id="R1beceb91bc1744d8" /><Relationship Type="http://schemas.openxmlformats.org/officeDocument/2006/relationships/slide" Target="/ppt/slides/slide14.xml" Id="R5993b3ce18204e5d" /><Relationship Type="http://schemas.openxmlformats.org/officeDocument/2006/relationships/slide" Target="/ppt/slides/slide15.xml" Id="Rad85163f3ced44b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81227d454df4e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fa21a50b46d47b6" /><Relationship Type="http://schemas.openxmlformats.org/officeDocument/2006/relationships/notesMaster" Target="/ppt/notesMasters/notesMaster1.xml" Id="Rc88d3128f6a2416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397b654b8944e6" /><Relationship Type="http://schemas.openxmlformats.org/officeDocument/2006/relationships/notesMaster" Target="/ppt/notesMasters/notesMaster1.xml" Id="Re0644b4576964c5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827c203f09641ab" /><Relationship Type="http://schemas.openxmlformats.org/officeDocument/2006/relationships/notesMaster" Target="/ppt/notesMasters/notesMaster1.xml" Id="R21a2b2c7c7d1402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a9fd112a82840eb" /><Relationship Type="http://schemas.openxmlformats.org/officeDocument/2006/relationships/notesMaster" Target="/ppt/notesMasters/notesMaster1.xml" Id="R169f59b0a6324fe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34b1b5972f449ab" /><Relationship Type="http://schemas.openxmlformats.org/officeDocument/2006/relationships/notesMaster" Target="/ppt/notesMasters/notesMaster1.xml" Id="R909ae93ee0e942a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dc202ad95974158" /><Relationship Type="http://schemas.openxmlformats.org/officeDocument/2006/relationships/notesMaster" Target="/ppt/notesMasters/notesMaster1.xml" Id="R914137667a9545a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335800b879141da" /><Relationship Type="http://schemas.openxmlformats.org/officeDocument/2006/relationships/notesMaster" Target="/ppt/notesMasters/notesMaster1.xml" Id="Rd45eae634eb544a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e077d8a287a4c70" /><Relationship Type="http://schemas.openxmlformats.org/officeDocument/2006/relationships/notesMaster" Target="/ppt/notesMasters/notesMaster1.xml" Id="R87c553cf011841a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99d335e2c164b0c" /><Relationship Type="http://schemas.openxmlformats.org/officeDocument/2006/relationships/notesMaster" Target="/ppt/notesMasters/notesMaster1.xml" Id="R04cdbfbc5882482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012f20166314663" /><Relationship Type="http://schemas.openxmlformats.org/officeDocument/2006/relationships/notesMaster" Target="/ppt/notesMasters/notesMaster1.xml" Id="Rff55747dc2244e0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49a05732a3b4b66" /><Relationship Type="http://schemas.openxmlformats.org/officeDocument/2006/relationships/notesMaster" Target="/ppt/notesMasters/notesMaster1.xml" Id="R5ba016d418a44c9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f0393fd92f2485d" /><Relationship Type="http://schemas.openxmlformats.org/officeDocument/2006/relationships/notesMaster" Target="/ppt/notesMasters/notesMaster1.xml" Id="Rb193c7b49a644f4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ded9ef4337b4896" /><Relationship Type="http://schemas.openxmlformats.org/officeDocument/2006/relationships/notesMaster" Target="/ppt/notesMasters/notesMaster1.xml" Id="R5dba0ad828c54c1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4582439adc144cf" /><Relationship Type="http://schemas.openxmlformats.org/officeDocument/2006/relationships/notesMaster" Target="/ppt/notesMasters/notesMaster1.xml" Id="Re6dd7a5251614e6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c29300b6b7b4fc3" /><Relationship Type="http://schemas.openxmlformats.org/officeDocument/2006/relationships/notesMaster" Target="/ppt/notesMasters/notesMaster1.xml" Id="R58e65051c74a4de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63c94117d1476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6d1b1cea86f4822" /><Relationship Type="http://schemas.openxmlformats.org/officeDocument/2006/relationships/slideLayout" Target="/ppt/slideLayouts/slideLayout2.xml" Id="R57080348902a48c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080348902a48c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d6149edbbe24279" /><Relationship Type="http://schemas.openxmlformats.org/officeDocument/2006/relationships/notesSlide" Target="/ppt/notesSlides/notesSlide1.xml" Id="R319ee9ebeef94f5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40a05d613e14083" /><Relationship Type="http://schemas.openxmlformats.org/officeDocument/2006/relationships/notesSlide" Target="/ppt/notesSlides/notesSlide2.xml" Id="R0282aab946b846a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c2aebbf00d04303" /><Relationship Type="http://schemas.openxmlformats.org/officeDocument/2006/relationships/notesSlide" Target="/ppt/notesSlides/notesSlide3.xml" Id="R5b5344e30baf4bb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0885454e6e4965" /><Relationship Type="http://schemas.openxmlformats.org/officeDocument/2006/relationships/notesSlide" Target="/ppt/notesSlides/notesSlide4.xml" Id="Rc97ce52fce26440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8f83c20f6d4f07" /><Relationship Type="http://schemas.openxmlformats.org/officeDocument/2006/relationships/notesSlide" Target="/ppt/notesSlides/notesSlide5.xml" Id="R2afd02188881416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247d35d77bb4d8b" /><Relationship Type="http://schemas.openxmlformats.org/officeDocument/2006/relationships/notesSlide" Target="/ppt/notesSlides/notesSlide6.xml" Id="Rcb83c7bf572548e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31db4268754f60" /><Relationship Type="http://schemas.openxmlformats.org/officeDocument/2006/relationships/notesSlide" Target="/ppt/notesSlides/notesSlide7.xml" Id="R4da9ed6ec0fb478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87e1bd731074470" /><Relationship Type="http://schemas.openxmlformats.org/officeDocument/2006/relationships/notesSlide" Target="/ppt/notesSlides/notesSlide8.xml" Id="Rc3467caab8f6434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e349882c2e1430d" /><Relationship Type="http://schemas.openxmlformats.org/officeDocument/2006/relationships/notesSlide" Target="/ppt/notesSlides/notesSlide9.xml" Id="Rb222863efbd74b4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36bbd303fa84984" /><Relationship Type="http://schemas.openxmlformats.org/officeDocument/2006/relationships/notesSlide" Target="/ppt/notesSlides/notesSlide10.xml" Id="R2693266c2c3a40b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c8e4fb16524ae9" /><Relationship Type="http://schemas.openxmlformats.org/officeDocument/2006/relationships/notesSlide" Target="/ppt/notesSlides/notesSlide11.xml" Id="R2245fcfa673a452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a34430ca6a34772" /><Relationship Type="http://schemas.openxmlformats.org/officeDocument/2006/relationships/notesSlide" Target="/ppt/notesSlides/notesSlide12.xml" Id="Rbef6ec783a6e4eb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449edc1cdf54c59" /><Relationship Type="http://schemas.openxmlformats.org/officeDocument/2006/relationships/notesSlide" Target="/ppt/notesSlides/notesSlide13.xml" Id="R19c21d05b93c479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96efbe5a364741" /><Relationship Type="http://schemas.openxmlformats.org/officeDocument/2006/relationships/notesSlide" Target="/ppt/notesSlides/notesSlide14.xml" Id="Rf54f9ca2b3474df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963d22e0bf74fec" /><Relationship Type="http://schemas.openxmlformats.org/officeDocument/2006/relationships/notesSlide" Target="/ppt/notesSlides/notesSlide15.xml" Id="R8ab96587bdbf403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49D5E9-E978-4977-B690-C54E707D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11BEC0-EFBA-4A98-BC84-793115B1C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11505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2A9A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2A9A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38336C-4243-462E-94CD-5B217D650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8707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87078"/>
                </a:solidFill>
                <a:latin typeface="Aptos"/>
                <a:ea typeface="Aptos"/>
                <a:cs typeface="Aptos"/>
              </a:rPr>
              <a:t>K-Typing Backend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2CF023-AF6C-40C6-AB7C-F1FF27C49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81915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24211F"/>
                </a:solidFill>
                <a:latin typeface="Hiragino Sans"/>
                <a:ea typeface="Hiragino Sans"/>
                <a:cs typeface="Hiragino Sans"/>
              </a:defRPr>
            </a:pPr>
            <a:r>
              <a:rPr sz="4050" b="1">
                <a:solidFill>
                  <a:srgbClr val="24211F"/>
                </a:solidFill>
                <a:latin typeface="Hiragino Sans"/>
                <a:ea typeface="Hiragino Sans"/>
                <a:cs typeface="Hiragino Sans"/>
              </a:rPr>
              <a:t>NestJS 設計思想と</a:t>
            </a:r>
          </a:p>
          <a:p xmlns:a="http://schemas.openxmlformats.org/drawingml/2006/main">
            <a:pPr algn="l">
              <a:defRPr sz="4050" b="1">
                <a:solidFill>
                  <a:srgbClr val="24211F"/>
                </a:solidFill>
                <a:latin typeface="Hiragino Sans"/>
                <a:ea typeface="Hiragino Sans"/>
                <a:cs typeface="Hiragino Sans"/>
              </a:defRPr>
            </a:pPr>
            <a:r>
              <a:rPr sz="4050" b="1">
                <a:solidFill>
                  <a:srgbClr val="24211F"/>
                </a:solidFill>
                <a:latin typeface="Hiragino Sans"/>
                <a:ea typeface="Hiragino Sans"/>
                <a:cs typeface="Hiragino Sans"/>
              </a:rPr>
              <a:t>コーディング規約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A7C1A6-A886-4550-9E6D-9A597C9D1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71800"/>
            <a:ext cx="609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rPr>
              <a:t>REST API版 / 初学者が迷わないための実装ルール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2DA210-D8C6-4A71-88C1-84571EE06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9550"/>
            <a:ext cx="3238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1E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9BB5BE-0812-4ED7-B365-921EC9C5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100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211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24211F"/>
                </a:solidFill>
                <a:latin typeface="Hiragino Sans"/>
                <a:ea typeface="Hiragino Sans"/>
                <a:cs typeface="Hiragino Sans"/>
              </a:rPr>
              <a:t>守ること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DEBE0D-5FA1-48B4-BC02-B1047753A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14850"/>
            <a:ext cx="2571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rPr>
              <a:t>Moduleで境界を切り、Controllerは薄く、Serviceに業務処理を寄せる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D1FAA3-4B7C-4634-8985-B4080425D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19550"/>
            <a:ext cx="3238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1E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029090-8156-437A-8552-196E183AB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2100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211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24211F"/>
                </a:solidFill>
                <a:latin typeface="Hiragino Sans"/>
                <a:ea typeface="Hiragino Sans"/>
                <a:cs typeface="Hiragino Sans"/>
              </a:rPr>
              <a:t>捨てること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923408-7271-41EA-A4B9-9028EE057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514850"/>
            <a:ext cx="2571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rPr>
              <a:t>AppModule肥大化、Controller内ビジネスロジック、newによる依存生成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39423E-0FA6-4AE1-9940-C507FFC23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5626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A2A9A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A2A9AF"/>
                </a:solidFill>
                <a:latin typeface="Hiragino Sans"/>
                <a:ea typeface="Hiragino Sans"/>
                <a:cs typeface="Hiragino Sans"/>
              </a:rPr>
              <a:t>2026.05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391BCF-88D3-4657-8426-09A7F383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15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2A9A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2A9AF"/>
                </a:solidFill>
                <a:latin typeface="Aptos"/>
                <a:ea typeface="Aptos"/>
                <a:cs typeface="Aptos"/>
              </a:rPr>
              <a:t>K-Typing Backend Style Guide</a:t>
            </a:r>
          </a:p>
        </p:txBody>
      </p:sp>
    </p:spTree>
    <p:extLst>
      <p:ext uri="{BB962C8B-B14F-4D97-AF65-F5344CB8AC3E}">
        <p14:creationId xmlns:p14="http://schemas.microsoft.com/office/powerpoint/2010/main" val="70091039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11E300-D80A-4449-A574-341BC60A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F087C9-E4E4-4703-B820-932550A1A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11505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2A9A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2A9A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30BBF2-9073-4D17-B6A4-184650583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0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078"/>
                </a:solidFill>
                <a:latin typeface="Aptos"/>
                <a:ea typeface="Aptos"/>
                <a:cs typeface="Aptos"/>
              </a:rPr>
              <a:t>CORE PHILOSOPHY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B0571E-0C49-4C2F-95C4-D3AC72B33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19150"/>
            <a:ext cx="904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4211F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24211F"/>
                </a:solidFill>
                <a:latin typeface="Hiragino Sans"/>
                <a:ea typeface="Hiragino Sans"/>
                <a:cs typeface="Hiragino Sans"/>
              </a:rPr>
              <a:t>NestJSは構造で保守性を作る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C94C1B-AEB7-49CB-9E85-8E54A75B1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66850"/>
            <a:ext cx="838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rPr>
              <a:t>公式思想をK-Typingの開発ルールへ落とし込む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2F9465-05B4-45E0-8461-2DD78A694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BB6427-969F-4EF0-B72D-883AF9EE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32385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1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B98D65-302F-4993-9F7E-AB15FDBE8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4762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60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4FEC26-AADC-4141-B962-D0A0073A0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52700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211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24211F"/>
                </a:solidFill>
                <a:latin typeface="Hiragino Sans"/>
                <a:ea typeface="Hiragino Sans"/>
                <a:cs typeface="Hiragino Sans"/>
              </a:rPr>
              <a:t>拡張性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DC92F1-2AED-41E8-B3FA-22994FAA8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76550"/>
            <a:ext cx="2819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rPr>
              <a:t>機能が増えても、Feature Moduleを追加するだけで構造を保つ</a:t>
            </a:r>
          </a:p>
          <a:p xmlns:a="http://schemas.openxmlformats.org/drawingml/2006/main">
            <a:pPr algn="l">
              <a:defRPr sz="1125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rPr>
              <a:t>認証、レッスン、タイピング、AI生成を別境界にする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672884-7184-4138-85A0-7BB20F253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81250"/>
            <a:ext cx="32385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1E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ECE192-0189-485C-9E2B-D135B8792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81250"/>
            <a:ext cx="4762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2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E48831-BFFB-4371-BB01-D28CB119D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52700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211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24211F"/>
                </a:solidFill>
                <a:latin typeface="Hiragino Sans"/>
                <a:ea typeface="Hiragino Sans"/>
                <a:cs typeface="Hiragino Sans"/>
              </a:rPr>
              <a:t>疎結合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063CAD-B5D9-4966-B94B-80472BBC0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76550"/>
            <a:ext cx="2819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rPr>
              <a:t>ControllerはServiceへ委譲し、依存はDIで渡す</a:t>
            </a:r>
          </a:p>
          <a:p xmlns:a="http://schemas.openxmlformats.org/drawingml/2006/main">
            <a:pPr algn="l">
              <a:defRPr sz="1125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rPr>
              <a:t>呼び出し元は具象生成を知らない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344B22-5BD5-4EA7-9A2E-20E6477D3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32385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1E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52B6F4-0F6A-468B-8F3A-6B4EEC376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4762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549B64-B9B0-476A-8782-342B7905E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52700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211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24211F"/>
                </a:solidFill>
                <a:latin typeface="Hiragino Sans"/>
                <a:ea typeface="Hiragino Sans"/>
                <a:cs typeface="Hiragino Sans"/>
              </a:rPr>
              <a:t>保守性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409891-776A-41B1-BBEA-7E52B656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76550"/>
            <a:ext cx="2819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rPr>
              <a:t>DTO、Service、Moduleの責務を固定する</a:t>
            </a:r>
          </a:p>
          <a:p xmlns:a="http://schemas.openxmlformats.org/drawingml/2006/main">
            <a:pPr algn="l">
              <a:defRPr sz="1125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rPr>
              <a:t>変更箇所が予測できる状態を作る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647881-CAEF-4009-896E-E6C45029C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672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60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9C8655-C46C-4510-B767-2E2CDC2AD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00550"/>
            <a:ext cx="9886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11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24211F"/>
                </a:solidFill>
                <a:latin typeface="Hiragino Sans"/>
                <a:ea typeface="Hiragino Sans"/>
                <a:cs typeface="Hiragino Sans"/>
              </a:rPr>
              <a:t>一貫性のないNestコードは、LaravelでControllerに全部書く状態と同じ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24DE36-1B69-496B-BB33-1F95ED05A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672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60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B8DA84-7E85-4430-9BC0-DD174C0C2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800600"/>
            <a:ext cx="9886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11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24211F"/>
                </a:solidFill>
                <a:latin typeface="Hiragino Sans"/>
                <a:ea typeface="Hiragino Sans"/>
                <a:cs typeface="Hiragino Sans"/>
              </a:rPr>
              <a:t>アーキテクチャを先に固定すると、初心者でも迷う範囲が狭くなる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E10CAC-E52F-4DE1-ABDA-F583CCE30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673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60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0512AD-394A-4973-A4AE-4BC4EE3CA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200650"/>
            <a:ext cx="9886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11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24211F"/>
                </a:solidFill>
                <a:latin typeface="Hiragino Sans"/>
                <a:ea typeface="Hiragino Sans"/>
                <a:cs typeface="Hiragino Sans"/>
              </a:rPr>
              <a:t>K-Typingでは「REST Controller + Service + Prisma」を標準形にする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B49167-F4EA-4003-8610-BADA30B45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15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2A9A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2A9AF"/>
                </a:solidFill>
                <a:latin typeface="Aptos"/>
                <a:ea typeface="Aptos"/>
                <a:cs typeface="Aptos"/>
              </a:rPr>
              <a:t>K-Typing Backend Style Guide</a:t>
            </a:r>
          </a:p>
        </p:txBody>
      </p:sp>
    </p:spTree>
    <p:extLst>
      <p:ext uri="{BB962C8B-B14F-4D97-AF65-F5344CB8AC3E}">
        <p14:creationId xmlns:p14="http://schemas.microsoft.com/office/powerpoint/2010/main" val="111333222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8A26D8-5D1B-476A-9DDC-9C69A446C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9E10D4-9284-4FE1-AD9F-11F0E6C04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11505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2A9A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2A9A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0490DF-6088-4A07-B6BD-DA4C97D8E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0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078"/>
                </a:solidFill>
                <a:latin typeface="Aptos"/>
                <a:ea typeface="Aptos"/>
                <a:cs typeface="Aptos"/>
              </a:rPr>
              <a:t>THREE BUILDING BLOCKS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7ED266-C9BC-47D8-BDED-C0FB0BDEF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19150"/>
            <a:ext cx="904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4211F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24211F"/>
                </a:solidFill>
                <a:latin typeface="Hiragino Sans"/>
                <a:ea typeface="Hiragino Sans"/>
                <a:cs typeface="Hiragino Sans"/>
              </a:rPr>
              <a:t>Module / Controller / Service を混ぜない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DC52A8-2EB9-4752-B60F-375C110E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66850"/>
            <a:ext cx="838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rPr>
              <a:t>Nestの基本単位は、役割分担を強制するために使う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A98EF2-2383-4371-9383-0F9A312B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7995A4-D91D-4068-8563-94F97AFEC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76500"/>
            <a:ext cx="2857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1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2D71F7-62EB-4EAC-9586-1C1D1AC84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4320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211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4211F"/>
                </a:solidFill>
                <a:latin typeface="Aptos"/>
                <a:ea typeface="Aptos"/>
                <a:cs typeface="Aptos"/>
              </a:rPr>
              <a:t>Module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3D5244-C836-497C-82BC-F7F487732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33750"/>
            <a:ext cx="2190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9606F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49606F"/>
                </a:solidFill>
                <a:latin typeface="Hiragino Sans"/>
                <a:ea typeface="Hiragino Sans"/>
                <a:cs typeface="Hiragino Sans"/>
              </a:rPr>
              <a:t>構造の定義</a:t>
            </a:r>
          </a:p>
          <a:p xmlns:a="http://schemas.openxmlformats.org/drawingml/2006/main">
            <a:pPr algn="l">
              <a:defRPr sz="1875" b="1">
                <a:solidFill>
                  <a:srgbClr val="49606F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49606F"/>
                </a:solidFill>
                <a:latin typeface="Hiragino Sans"/>
                <a:ea typeface="Hiragino Sans"/>
                <a:cs typeface="Hiragino Sans"/>
              </a:rPr>
              <a:t>カプセル化の境界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51C28F-27D1-4FDE-A0DF-B290429A0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2209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rPr>
              <a:t>imports / controllers / providers / exports を宣言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F61E53-9DC7-4BAA-95BF-7A57C6E3E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76500"/>
            <a:ext cx="2857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1E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4EC020-3474-45E1-B3B4-5E578CEBF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74320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211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4211F"/>
                </a:solidFill>
                <a:latin typeface="Aptos"/>
                <a:ea typeface="Aptos"/>
                <a:cs typeface="Aptos"/>
              </a:rPr>
              <a:t>Controller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0F44EC-35C7-4FD4-B7EA-FE1E2F793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333750"/>
            <a:ext cx="2190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B26B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20B26B"/>
                </a:solidFill>
                <a:latin typeface="Hiragino Sans"/>
                <a:ea typeface="Hiragino Sans"/>
                <a:cs typeface="Hiragino Sans"/>
              </a:rPr>
              <a:t>HTTPの入口</a:t>
            </a:r>
          </a:p>
          <a:p xmlns:a="http://schemas.openxmlformats.org/drawingml/2006/main">
            <a:pPr algn="l">
              <a:defRPr sz="1875" b="1">
                <a:solidFill>
                  <a:srgbClr val="20B26B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20B26B"/>
                </a:solidFill>
                <a:latin typeface="Hiragino Sans"/>
                <a:ea typeface="Hiragino Sans"/>
                <a:cs typeface="Hiragino Sans"/>
              </a:rPr>
              <a:t>REST endpoint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5BC2AB-7617-42BE-AF36-02452D203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400550"/>
            <a:ext cx="2209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rPr>
              <a:t>Body / Param / Query を受け、Serviceへ渡す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ECE893-F635-4461-9D43-C0F352BC4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76500"/>
            <a:ext cx="2857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1E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85F13B-E52F-44F8-8BAA-D87AB412C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4320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211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4211F"/>
                </a:solidFill>
                <a:latin typeface="Aptos"/>
                <a:ea typeface="Aptos"/>
                <a:cs typeface="Aptos"/>
              </a:rPr>
              <a:t>Service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1093A6-9563-4B6D-B15E-C959C04B5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333750"/>
            <a:ext cx="2190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211F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24211F"/>
                </a:solidFill>
                <a:latin typeface="Hiragino Sans"/>
                <a:ea typeface="Hiragino Sans"/>
                <a:cs typeface="Hiragino Sans"/>
              </a:rPr>
              <a:t>業務処理</a:t>
            </a:r>
          </a:p>
          <a:p xmlns:a="http://schemas.openxmlformats.org/drawingml/2006/main">
            <a:pPr algn="l">
              <a:defRPr sz="1875" b="1">
                <a:solidFill>
                  <a:srgbClr val="24211F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24211F"/>
                </a:solidFill>
                <a:latin typeface="Hiragino Sans"/>
                <a:ea typeface="Hiragino Sans"/>
                <a:cs typeface="Hiragino Sans"/>
              </a:rPr>
              <a:t>データ層との連携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AB8660-8F56-4503-ABEC-5321B2B3C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400550"/>
            <a:ext cx="2209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rPr>
              <a:t>Prisma操作、判定、集計、外部API連携を実行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97254B-AA54-4C05-AB56-DED0EAD3D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61975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211F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24211F"/>
                </a:solidFill>
                <a:latin typeface="Hiragino Sans"/>
                <a:ea typeface="Hiragino Sans"/>
                <a:cs typeface="Hiragino Sans"/>
              </a:rPr>
              <a:t>Controllerに処理を集めると、テスト不能・再利用不能・肥大化の3点セットになる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B7EDE8-D3A0-4D28-ACDB-E9BD89B23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15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2A9A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2A9AF"/>
                </a:solidFill>
                <a:latin typeface="Aptos"/>
                <a:ea typeface="Aptos"/>
                <a:cs typeface="Aptos"/>
              </a:rPr>
              <a:t>K-Typing Backend Style Guide</a:t>
            </a:r>
          </a:p>
        </p:txBody>
      </p:sp>
    </p:spTree>
    <p:extLst>
      <p:ext uri="{BB962C8B-B14F-4D97-AF65-F5344CB8AC3E}">
        <p14:creationId xmlns:p14="http://schemas.microsoft.com/office/powerpoint/2010/main" val="52704407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EE519C-BBC7-4B52-AC6E-4AD6D1857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77EBEC-12CE-4AA4-9AE8-2A809AB3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11505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2A9A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2A9A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3E5650-F666-4042-9E82-270906067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0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078"/>
                </a:solidFill>
                <a:latin typeface="Aptos"/>
                <a:ea typeface="Aptos"/>
                <a:cs typeface="Aptos"/>
              </a:rPr>
              <a:t>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180FE6-3A5A-4DB3-B0BC-53374EA71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19150"/>
            <a:ext cx="904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4211F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24211F"/>
                </a:solidFill>
                <a:latin typeface="Hiragino Sans"/>
                <a:ea typeface="Hiragino Sans"/>
                <a:cs typeface="Hiragino Sans"/>
              </a:rPr>
              <a:t>Moduleは構造と境界だけを書く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C60A19-2526-4493-B285-F1C6C619C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66850"/>
            <a:ext cx="838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rPr>
              <a:t>providersを外へ出すかどうかもModuleの責務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67CEC2-2F47-4FD4-A9A1-9F1AF0D9A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B02364-3E99-4E95-900B-C58364B28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26B"/>
          </a:solidFill>
          <a:ln xmlns:a="http://schemas.openxmlformats.org/drawingml/2006/main" w="9525">
            <a:solidFill>
              <a:srgbClr val="20B26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05295C-C7D8-46A7-BE98-BA4541E23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19350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93F537-2967-4C15-93F1-21B2A6ED5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4953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1F1F"/>
          </a:solidFill>
          <a:ln xmlns:a="http://schemas.openxmlformats.org/drawingml/2006/main" w="9525">
            <a:solidFill>
              <a:srgbClr val="1F1F1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A1685B-55DE-4578-BE29-1A69AC699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14650"/>
            <a:ext cx="461010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@Module({</a:t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imports: [PrismaModule],</a:t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controllers: [UsersController],</a:t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providers: [UsersService],</a:t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exports: [UsersService],</a:t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})</a:t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export class UsersModule {}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D337AC-38E0-47EB-91D8-434D1C1A5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8125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53D"/>
          </a:solidFill>
          <a:ln xmlns:a="http://schemas.openxmlformats.org/drawingml/2006/main" w="9525">
            <a:solidFill>
              <a:srgbClr val="D645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01CC58-5F16-4618-8410-1268E6DAC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19350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DON'T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ABC269-3212-44A2-A3A7-8C647D826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62250"/>
            <a:ext cx="4953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1F1F"/>
          </a:solidFill>
          <a:ln xmlns:a="http://schemas.openxmlformats.org/drawingml/2006/main" w="9525">
            <a:solidFill>
              <a:srgbClr val="1F1F1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56F38D-9879-4C44-9348-E61574CE4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914650"/>
            <a:ext cx="461010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@Module({</a:t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imports: [],</a:t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controllers: [</a:t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  UsersController,</a:t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  LessonsController,</a:t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  TypingController,</a:t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],</a:t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providers: [</a:t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  UsersService,</a:t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  LessonsService,</a:t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  TypingService,</a:t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],</a:t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})</a:t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export class AppModule {}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BAB5D0-B407-444C-B08F-31FB5F7DB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15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2A9A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2A9AF"/>
                </a:solidFill>
                <a:latin typeface="Aptos"/>
                <a:ea typeface="Aptos"/>
                <a:cs typeface="Aptos"/>
              </a:rPr>
              <a:t>K-Typing Backend Style Guide</a:t>
            </a:r>
          </a:p>
        </p:txBody>
      </p:sp>
    </p:spTree>
    <p:extLst>
      <p:ext uri="{BB962C8B-B14F-4D97-AF65-F5344CB8AC3E}">
        <p14:creationId xmlns:p14="http://schemas.microsoft.com/office/powerpoint/2010/main" val="196101896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E8CBB0-C73A-4746-9186-38E029395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F38667-060C-4800-911B-C2C58DD50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11505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2A9A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2A9A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842B36-F932-4400-886C-CB402CFDA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0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078"/>
                </a:solidFill>
                <a:latin typeface="Aptos"/>
                <a:ea typeface="Aptos"/>
                <a:cs typeface="Aptos"/>
              </a:rPr>
              <a:t>CONTROLLER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5B9605-6FEE-4BFF-9212-526AADBE6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19150"/>
            <a:ext cx="904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4211F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24211F"/>
                </a:solidFill>
                <a:latin typeface="Hiragino Sans"/>
                <a:ea typeface="Hiragino Sans"/>
                <a:cs typeface="Hiragino Sans"/>
              </a:rPr>
              <a:t>ControllerはHTTPの薄い入口にする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49A068-5F44-4D2C-8550-C2F51789C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66850"/>
            <a:ext cx="838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rPr>
              <a:t>ルーティング、DTO受け取り、Service呼び出し、レスポンス返却だけ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6DF8FD-2293-4C6B-980D-5AF89BE2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A923FB-E529-4C93-8FFC-E3377028A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26B"/>
          </a:solidFill>
          <a:ln xmlns:a="http://schemas.openxmlformats.org/drawingml/2006/main" w="9525">
            <a:solidFill>
              <a:srgbClr val="20B26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96F81A-51F9-4BFD-AF12-FC81CCF7D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19350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B4BFE7-DFC6-45AB-AE47-DDAAC79DF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4953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1F1F"/>
          </a:solidFill>
          <a:ln xmlns:a="http://schemas.openxmlformats.org/drawingml/2006/main" w="9525">
            <a:solidFill>
              <a:srgbClr val="1F1F1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39F617-6D0E-4D29-AFBB-A15D7A5F8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14650"/>
            <a:ext cx="461010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@Post('signup')</a:t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async signUp(@Body() dto: SignUpDto) {</a:t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return this.authService.signUp(dto);</a:t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@Get('me')</a:t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async me(@CurrentUser() user: AuthUser) {</a:t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return this.usersService.findMe(user.id);</a:t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F7B2AE-2D75-491C-A122-7925EE6D2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8125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53D"/>
          </a:solidFill>
          <a:ln xmlns:a="http://schemas.openxmlformats.org/drawingml/2006/main" w="9525">
            <a:solidFill>
              <a:srgbClr val="D645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373764-FD7D-4707-9210-37B7D37A4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19350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DON'T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A92F9F-1491-462C-BAB9-2C35CCE99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62250"/>
            <a:ext cx="4953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1F1F"/>
          </a:solidFill>
          <a:ln xmlns:a="http://schemas.openxmlformats.org/drawingml/2006/main" w="9525">
            <a:solidFill>
              <a:srgbClr val="1F1F1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917C7B-C5D2-46C7-843E-53AB4E480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914650"/>
            <a:ext cx="461010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@Post('signup')</a:t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async signUp(@Body() body: any) {</a:t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const exists = await prisma.user.findFirst(...);</a:t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if (exists) throw new Error('duplicate');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const hash = await bcrypt.hash(body.password, 10);</a:t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const user = await prisma.user.create(...);</a:t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return jwt.sign({ sub: user.id });</a:t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1C3D46-40CD-400A-AC25-0977C9C9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15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2A9A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2A9AF"/>
                </a:solidFill>
                <a:latin typeface="Aptos"/>
                <a:ea typeface="Aptos"/>
                <a:cs typeface="Aptos"/>
              </a:rPr>
              <a:t>K-Typing Backend Style Guide</a:t>
            </a:r>
          </a:p>
        </p:txBody>
      </p:sp>
    </p:spTree>
    <p:extLst>
      <p:ext uri="{BB962C8B-B14F-4D97-AF65-F5344CB8AC3E}">
        <p14:creationId xmlns:p14="http://schemas.microsoft.com/office/powerpoint/2010/main" val="124417849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77193B-8139-426D-9848-FFFDACCFE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16582A-2CFF-4222-AAAF-8271BCE4D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11505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2A9A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2A9A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5A2442-90B9-497F-8315-4FDEE1D65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0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078"/>
                </a:solidFill>
                <a:latin typeface="Aptos"/>
                <a:ea typeface="Aptos"/>
                <a:cs typeface="Aptos"/>
              </a:rPr>
              <a:t>SERVICE / PROVIDER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AF1E96-AE4D-477F-BF4E-EEF534B40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19150"/>
            <a:ext cx="904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4211F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24211F"/>
                </a:solidFill>
                <a:latin typeface="Hiragino Sans"/>
                <a:ea typeface="Hiragino Sans"/>
                <a:cs typeface="Hiragino Sans"/>
              </a:rPr>
              <a:t>Serviceは業務処理とデータ操作を持つ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62F6FA-1A0C-42A7-BC64-751AD2993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66850"/>
            <a:ext cx="838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rPr>
              <a:t>Prisma、判定ロジック、外部API連携はServiceへ寄せる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314E86-D70E-4044-A5D5-926FA320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25B8ED-CF08-472E-B011-DA5D2C5E0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26B"/>
          </a:solidFill>
          <a:ln xmlns:a="http://schemas.openxmlformats.org/drawingml/2006/main" w="9525">
            <a:solidFill>
              <a:srgbClr val="20B26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FC4C21-2522-4F52-9A9C-E765B6680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19350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1B7535-52FF-4040-8E64-591CD2476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4953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1F1F"/>
          </a:solidFill>
          <a:ln xmlns:a="http://schemas.openxmlformats.org/drawingml/2006/main" w="9525">
            <a:solidFill>
              <a:srgbClr val="1F1F1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03BBBC-FC36-43D1-B319-06E40E0B0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14650"/>
            <a:ext cx="461010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@Injectable()</a:t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export class AuthService {</a:t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constructor(</a:t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  private readonly usersService: UsersService,</a:t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  private readonly jwtService: JwtService,</a:t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) {}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async signUp(dto: SignUpDto) {</a:t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  const user = await this.usersService.create(dto);</a:t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  return this.issueToken(user.id);</a:t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}</a:t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05E9F6-E1C3-4CBE-AC82-ED5ECCCDC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8125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53D"/>
          </a:solidFill>
          <a:ln xmlns:a="http://schemas.openxmlformats.org/drawingml/2006/main" w="9525">
            <a:solidFill>
              <a:srgbClr val="D645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D94113-2952-49E2-97EE-D1B21C670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19350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DON'T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DE5F28-1FBF-4F1E-843F-1596B7960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62250"/>
            <a:ext cx="4953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1F1F"/>
          </a:solidFill>
          <a:ln xmlns:a="http://schemas.openxmlformats.org/drawingml/2006/main" w="9525">
            <a:solidFill>
              <a:srgbClr val="1F1F1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5EEFD8-97B6-4308-8C09-B02E73A65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914650"/>
            <a:ext cx="461010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@Injectable()</a:t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export class AuthService {</a:t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async signUp(dto: any) {</a:t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  const usersService = new UsersService();</a:t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  const jwtService = new JwtService({});</a:t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  const user = await usersService.create(dto);</a:t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  return jwtService.sign({ sub: user.id });</a:t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}</a:t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1CF6DE-6ECA-45FE-969B-68C1CC7FF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15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2A9A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2A9AF"/>
                </a:solidFill>
                <a:latin typeface="Aptos"/>
                <a:ea typeface="Aptos"/>
                <a:cs typeface="Aptos"/>
              </a:rPr>
              <a:t>K-Typing Backend Style Guide</a:t>
            </a:r>
          </a:p>
        </p:txBody>
      </p:sp>
    </p:spTree>
    <p:extLst>
      <p:ext uri="{BB962C8B-B14F-4D97-AF65-F5344CB8AC3E}">
        <p14:creationId xmlns:p14="http://schemas.microsoft.com/office/powerpoint/2010/main" val="162425772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8E3038-C8BA-4F8D-A602-901CE8D4C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B7F1EF-429A-4C27-84D9-6EC49BCB0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11505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2A9A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2A9AF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44F897-DFF2-46A0-8353-17D1533CA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0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078"/>
                </a:solidFill>
                <a:latin typeface="Aptos"/>
                <a:ea typeface="Aptos"/>
                <a:cs typeface="Aptos"/>
              </a:rPr>
              <a:t>FEATURE MODULES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12C5C5-8967-4859-A6B1-1009071A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19150"/>
            <a:ext cx="904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4211F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24211F"/>
                </a:solidFill>
                <a:latin typeface="Hiragino Sans"/>
                <a:ea typeface="Hiragino Sans"/>
                <a:cs typeface="Hiragino Sans"/>
              </a:rPr>
              <a:t>AppModuleに直接生やさない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8BD0F5-212E-46D3-9517-AA28B2C4C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66850"/>
            <a:ext cx="838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rPr>
              <a:t>Root Moduleはアプリ全体を組み立てる場所、機能実装を書く場所ではない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11B194-17AF-4330-96E5-69576549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BDA913-66B7-4962-977D-513EB29E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4953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1F1F"/>
          </a:solidFill>
          <a:ln xmlns:a="http://schemas.openxmlformats.org/drawingml/2006/main" w="9525">
            <a:solidFill>
              <a:srgbClr val="1F1F1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185938-07AF-4B89-A23E-6145BB305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52700"/>
            <a:ext cx="461010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src/</a:t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app.module.ts</a:t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prisma/</a:t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  prisma.module.ts</a:t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  prisma.service.ts</a:t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auth/</a:t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  auth.module.ts</a:t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  auth.controller.ts</a:t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  auth.service.ts</a:t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  dto/</a:t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    sign-up.dto.ts</a:t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    sign-in.dto.ts</a:t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users/</a:t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  users.module.ts</a:t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  users.controller.ts</a:t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  users.service.ts</a:t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  dto/</a:t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    update-profile.dto.ts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0D8FC4-303F-4977-8C54-7C987957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00300"/>
            <a:ext cx="4191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1E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EB74CA-5B3E-4D61-9667-5580AEE69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003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81F48F-8E27-4479-A6F3-273B73F0A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571750"/>
            <a:ext cx="3771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211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24211F"/>
                </a:solidFill>
                <a:latin typeface="Hiragino Sans"/>
                <a:ea typeface="Hiragino Sans"/>
                <a:cs typeface="Hiragino Sans"/>
              </a:rPr>
              <a:t>鉄則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166333-AB6A-4005-B80D-91A3F8BFD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95600"/>
            <a:ext cx="3771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rPr>
              <a:t>app.module.tsにはimportsだけを増やす</a:t>
            </a:r>
          </a:p>
          <a:p xmlns:a="http://schemas.openxmlformats.org/drawingml/2006/main">
            <a:pPr algn="l">
              <a:defRPr sz="1125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rPr>
              <a:t>機能クラスを直接並べない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AE9BEB-914E-4E5E-B6FF-E77B75919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33800"/>
            <a:ext cx="4191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1E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AC37EB-A21C-4329-8DEC-44AF88545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338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5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22ED89-F11B-4D0E-8C3F-C70B5E949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905250"/>
            <a:ext cx="3771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211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24211F"/>
                </a:solidFill>
                <a:latin typeface="Hiragino Sans"/>
                <a:ea typeface="Hiragino Sans"/>
                <a:cs typeface="Hiragino Sans"/>
              </a:rPr>
              <a:t>理由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7EA67D-94D9-4A2E-B347-86CAC9C4B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229100"/>
            <a:ext cx="3771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rPr>
              <a:t>機能境界が崩れると、依存関係の見通しが消える</a:t>
            </a:r>
          </a:p>
          <a:p xmlns:a="http://schemas.openxmlformats.org/drawingml/2006/main">
            <a:pPr algn="l">
              <a:defRPr sz="1125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rPr>
              <a:t>テスト単位も曖昧になる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0433DF-42C5-438F-AE02-F0BC7E3C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67300"/>
            <a:ext cx="4191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1E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215085-63AE-4236-AFB0-0360B3DCA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67300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60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94DACA-9396-4879-8F35-3587DA42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238750"/>
            <a:ext cx="3771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211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24211F"/>
                </a:solidFill>
                <a:latin typeface="Hiragino Sans"/>
                <a:ea typeface="Hiragino Sans"/>
                <a:cs typeface="Hiragino Sans"/>
              </a:rPr>
              <a:t>Laravel比較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57F309-D8E8-4D66-8FEB-2C230BC2A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562600"/>
            <a:ext cx="3771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rPr>
              <a:t>routes/web.phpに全部書かないのと同じ</a:t>
            </a:r>
          </a:p>
          <a:p xmlns:a="http://schemas.openxmlformats.org/drawingml/2006/main">
            <a:pPr algn="l">
              <a:defRPr sz="1125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rPr>
              <a:t>NestではModuleが整理棚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FFBFDA-54B7-4CC4-8528-B2170263F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15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2A9A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2A9AF"/>
                </a:solidFill>
                <a:latin typeface="Aptos"/>
                <a:ea typeface="Aptos"/>
                <a:cs typeface="Aptos"/>
              </a:rPr>
              <a:t>K-Typing Backend Style Guide</a:t>
            </a:r>
          </a:p>
        </p:txBody>
      </p:sp>
    </p:spTree>
    <p:extLst>
      <p:ext uri="{BB962C8B-B14F-4D97-AF65-F5344CB8AC3E}">
        <p14:creationId xmlns:p14="http://schemas.microsoft.com/office/powerpoint/2010/main" val="83392773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D5C169-9C46-4495-9663-B9FEFC919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C73CEF-91B0-4567-98D2-5A3DB0EC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11505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2A9A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2A9AF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1A67BF-66C7-4504-B25D-84DD73060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0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078"/>
                </a:solidFill>
                <a:latin typeface="Aptos"/>
                <a:ea typeface="Aptos"/>
                <a:cs typeface="Aptos"/>
              </a:rPr>
              <a:t>SHARED MODULES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D87A65-6DD7-4FCD-A21E-267509EC7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19150"/>
            <a:ext cx="904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4211F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24211F"/>
                </a:solidFill>
                <a:latin typeface="Hiragino Sans"/>
                <a:ea typeface="Hiragino Sans"/>
                <a:cs typeface="Hiragino Sans"/>
              </a:rPr>
              <a:t>共有は exports と imports で明示する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800CB3-FB7F-4DEE-A082-40015E404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66850"/>
            <a:ext cx="838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rPr>
              <a:t>NestのModule/Providerはデフォルトでシングルトン、共有方法を間違えると別インスタンス化する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DCB924-D941-4C80-925C-A72C3D0DC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78034A-7DF0-43D2-9EC8-FFA99F842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495300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1F1F"/>
          </a:solidFill>
          <a:ln xmlns:a="http://schemas.openxmlformats.org/drawingml/2006/main" w="9525">
            <a:solidFill>
              <a:srgbClr val="1F1F1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0420E6-410A-42AA-B734-870D7EA93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90800"/>
            <a:ext cx="46101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@Module({</a:t>
            </a:r>
          </a:p>
          <a:p xmlns:a="http://schemas.openxmlformats.org/drawingml/2006/main">
            <a:pPr algn="l">
              <a:defRPr sz="105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providers: [PrismaService],</a:t>
            </a:r>
          </a:p>
          <a:p xmlns:a="http://schemas.openxmlformats.org/drawingml/2006/main">
            <a:pPr algn="l">
              <a:defRPr sz="105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exports: [PrismaService],</a:t>
            </a:r>
          </a:p>
          <a:p xmlns:a="http://schemas.openxmlformats.org/drawingml/2006/main">
            <a:pPr algn="l">
              <a:defRPr sz="105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})</a:t>
            </a:r>
          </a:p>
          <a:p xmlns:a="http://schemas.openxmlformats.org/drawingml/2006/main">
            <a:pPr algn="l">
              <a:defRPr sz="105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export class PrismaModule {}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@Module({</a:t>
            </a:r>
          </a:p>
          <a:p xmlns:a="http://schemas.openxmlformats.org/drawingml/2006/main">
            <a:pPr algn="l">
              <a:defRPr sz="105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imports: [PrismaModule],</a:t>
            </a:r>
          </a:p>
          <a:p xmlns:a="http://schemas.openxmlformats.org/drawingml/2006/main">
            <a:pPr algn="l">
              <a:defRPr sz="105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providers: [UsersService],</a:t>
            </a:r>
          </a:p>
          <a:p xmlns:a="http://schemas.openxmlformats.org/drawingml/2006/main">
            <a:pPr algn="l">
              <a:defRPr sz="105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})</a:t>
            </a:r>
          </a:p>
          <a:p xmlns:a="http://schemas.openxmlformats.org/drawingml/2006/main">
            <a:pPr algn="l">
              <a:defRPr sz="105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export class UsersModule {}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4E9577-26B1-46C7-8DAE-C1A2B91B2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574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B26B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20B26B"/>
                </a:solidFill>
                <a:latin typeface="Hiragino Sans"/>
                <a:ea typeface="Hiragino Sans"/>
                <a:cs typeface="Hiragino Sans"/>
              </a:rPr>
              <a:t>正しい共有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6EC6DD-FE0E-4C46-AEC3-CFD62D206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14650"/>
            <a:ext cx="4286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11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24211F"/>
                </a:solidFill>
                <a:latin typeface="Hiragino Sans"/>
                <a:ea typeface="Hiragino Sans"/>
                <a:cs typeface="Hiragino Sans"/>
              </a:rPr>
              <a:t>使いたいServiceを定義元Moduleでexportsし、利用側Moduleでimportsする</a:t>
            </a:r>
          </a:p>
          <a:p xmlns:a="http://schemas.openxmlformats.org/drawingml/2006/main">
            <a:pPr algn="l">
              <a:defRPr sz="1350" b="0">
                <a:solidFill>
                  <a:srgbClr val="24211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24211F"/>
                </a:solidFill>
                <a:latin typeface="Hiragino Sans"/>
                <a:ea typeface="Hiragino Sans"/>
                <a:cs typeface="Hiragino Sans"/>
              </a:rPr>
              <a:t>これで同じProviderインスタンスを安全に共有できる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61EC14-FA7A-47B4-B3D7-2368A22E7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2910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6453D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D6453D"/>
                </a:solidFill>
                <a:latin typeface="Hiragino Sans"/>
                <a:ea typeface="Hiragino Sans"/>
                <a:cs typeface="Hiragino Sans"/>
              </a:rPr>
              <a:t>禁止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1734CA-F99C-41DE-9D15-601D0440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86300"/>
            <a:ext cx="4286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11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24211F"/>
                </a:solidFill>
                <a:latin typeface="Hiragino Sans"/>
                <a:ea typeface="Hiragino Sans"/>
                <a:cs typeface="Hiragino Sans"/>
              </a:rPr>
              <a:t>必要なModuleごとに同じServiceをprovidersへ再登録しない</a:t>
            </a:r>
          </a:p>
          <a:p xmlns:a="http://schemas.openxmlformats.org/drawingml/2006/main">
            <a:pPr algn="l">
              <a:defRPr sz="1350" b="0">
                <a:solidFill>
                  <a:srgbClr val="24211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24211F"/>
                </a:solidFill>
                <a:latin typeface="Hiragino Sans"/>
                <a:ea typeface="Hiragino Sans"/>
                <a:cs typeface="Hiragino Sans"/>
              </a:rPr>
              <a:t>状態不整合、余計なメモリ、DIエラーの原因になる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BBEA34-D44B-4C9D-8432-48AA0A7A3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15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2A9A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2A9AF"/>
                </a:solidFill>
                <a:latin typeface="Aptos"/>
                <a:ea typeface="Aptos"/>
                <a:cs typeface="Aptos"/>
              </a:rPr>
              <a:t>K-Typing Backend Style Guide</a:t>
            </a:r>
          </a:p>
        </p:txBody>
      </p:sp>
    </p:spTree>
    <p:extLst>
      <p:ext uri="{BB962C8B-B14F-4D97-AF65-F5344CB8AC3E}">
        <p14:creationId xmlns:p14="http://schemas.microsoft.com/office/powerpoint/2010/main" val="109724726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A351F0-E31C-4BA9-BF0A-9FEDB6B3D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EBD6CD-52A2-46D8-BEF7-37AAAFB04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11505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2A9A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2A9AF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E62376-1DA7-4569-BBC0-DD13529CF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0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078"/>
                </a:solidFill>
                <a:latin typeface="Aptos"/>
                <a:ea typeface="Aptos"/>
                <a:cs typeface="Aptos"/>
              </a:rPr>
              <a:t>GLOBAL MODULES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C72E69-91D2-4D11-A17D-BC1AB6CC0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19150"/>
            <a:ext cx="904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4211F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24211F"/>
                </a:solidFill>
                <a:latin typeface="Hiragino Sans"/>
                <a:ea typeface="Hiragino Sans"/>
                <a:cs typeface="Hiragino Sans"/>
              </a:rPr>
              <a:t>@Global()は原則禁止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31902F-7463-4D51-9F9C-D5BE2AA8C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66850"/>
            <a:ext cx="838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rPr>
              <a:t>明示的なimportsを崩すと、依存関係が見えなくなる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1E9462-DF63-4FF6-8C10-088C2E462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88F0F5-9ACE-466E-8396-A3E94684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26B"/>
          </a:solidFill>
          <a:ln xmlns:a="http://schemas.openxmlformats.org/drawingml/2006/main" w="9525">
            <a:solidFill>
              <a:srgbClr val="20B26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DB5C26-2207-4F41-B895-BEA97D153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19350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A8F76D-0679-4737-991D-CABAEBBD6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4953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1F1F"/>
          </a:solidFill>
          <a:ln xmlns:a="http://schemas.openxmlformats.org/drawingml/2006/main" w="9525">
            <a:solidFill>
              <a:srgbClr val="1F1F1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9CFF80-B276-4EE1-865F-3C02DAB6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14650"/>
            <a:ext cx="461010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@Module({</a:t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imports: [PrismaModule],</a:t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providers: [TypingSessionsService],</a:t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})</a:t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export class TypingModule {}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// 依存元がファイル上で読める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D9D3A8-E86A-4D32-A4FA-BD69075EB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8125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53D"/>
          </a:solidFill>
          <a:ln xmlns:a="http://schemas.openxmlformats.org/drawingml/2006/main" w="9525">
            <a:solidFill>
              <a:srgbClr val="D645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6F2B1C-1A27-472C-AFC7-72EAB8FBF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19350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DON'T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73DDA6-196A-40A4-8220-C0BF9CE08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62250"/>
            <a:ext cx="4953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1F1F"/>
          </a:solidFill>
          <a:ln xmlns:a="http://schemas.openxmlformats.org/drawingml/2006/main" w="9525">
            <a:solidFill>
              <a:srgbClr val="1F1F1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687621-879A-4772-A2F5-D11CEE79F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914650"/>
            <a:ext cx="461010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@Global()</a:t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@Module({</a:t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providers: [PrismaService, ConfigService],</a:t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exports: [PrismaService, ConfigService],</a:t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})</a:t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export class SharedModule {}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// どのModuleが何に依存するか見えない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5F662F-F422-4718-820E-A0A0706B8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15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2A9A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2A9AF"/>
                </a:solidFill>
                <a:latin typeface="Aptos"/>
                <a:ea typeface="Aptos"/>
                <a:cs typeface="Aptos"/>
              </a:rPr>
              <a:t>K-Typing Backend Style Guide</a:t>
            </a:r>
          </a:p>
        </p:txBody>
      </p:sp>
    </p:spTree>
    <p:extLst>
      <p:ext uri="{BB962C8B-B14F-4D97-AF65-F5344CB8AC3E}">
        <p14:creationId xmlns:p14="http://schemas.microsoft.com/office/powerpoint/2010/main" val="113272253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FE8FDE-22C7-4D52-89BF-B4559ED0F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024B02-2D7E-4585-9103-374F67964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11505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2A9A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2A9A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78B5D7-FB62-414D-975A-4ACD05FE7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0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078"/>
                </a:solidFill>
                <a:latin typeface="Aptos"/>
                <a:ea typeface="Aptos"/>
                <a:cs typeface="Aptos"/>
              </a:rPr>
              <a:t>DTO + VALIDATION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6F0F89-2158-478A-A4F6-0BBA0503A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19150"/>
            <a:ext cx="904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4211F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24211F"/>
                </a:solidFill>
                <a:latin typeface="Hiragino Sans"/>
                <a:ea typeface="Hiragino Sans"/>
                <a:cs typeface="Hiragino Sans"/>
              </a:rPr>
              <a:t>入力はDTOで受け、ValidationPipeで落とす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C7B450-C172-4A1D-ACF4-E80A3EADA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66850"/>
            <a:ext cx="838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rPr>
              <a:t>Controller内if文でバリデーションを増やさない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3DA9C4-FE43-4314-B991-79243113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C57BC2-C6C9-43E8-B567-C15E72201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4953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1F1F"/>
          </a:solidFill>
          <a:ln xmlns:a="http://schemas.openxmlformats.org/drawingml/2006/main" w="9525">
            <a:solidFill>
              <a:srgbClr val="1F1F1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CFE971-5FAF-4D1E-8FF2-98F41A6EA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46101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export class SignUpDto {</a:t>
            </a:r>
          </a:p>
          <a:p xmlns:a="http://schemas.openxmlformats.org/drawingml/2006/main">
            <a:pPr algn="l">
              <a:defRPr sz="105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@IsEmail()</a:t>
            </a:r>
          </a:p>
          <a:p xmlns:a="http://schemas.openxmlformats.org/drawingml/2006/main">
            <a:pPr algn="l">
              <a:defRPr sz="105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email: string;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@IsString()</a:t>
            </a:r>
          </a:p>
          <a:p xmlns:a="http://schemas.openxmlformats.org/drawingml/2006/main">
            <a:pPr algn="l">
              <a:defRPr sz="105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@MinLength(8)</a:t>
            </a:r>
          </a:p>
          <a:p xmlns:a="http://schemas.openxmlformats.org/drawingml/2006/main">
            <a:pPr algn="l">
              <a:defRPr sz="105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password: string;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@IsString()</a:t>
            </a:r>
          </a:p>
          <a:p xmlns:a="http://schemas.openxmlformats.org/drawingml/2006/main">
            <a:pPr algn="l">
              <a:defRPr sz="105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@MaxLength(100)</a:t>
            </a:r>
          </a:p>
          <a:p xmlns:a="http://schemas.openxmlformats.org/drawingml/2006/main">
            <a:pPr algn="l">
              <a:defRPr sz="105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displayName: string;</a:t>
            </a:r>
          </a:p>
          <a:p xmlns:a="http://schemas.openxmlformats.org/drawingml/2006/main">
            <a:pPr algn="l">
              <a:defRPr sz="105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4FB32A-B910-44A2-9179-FC3C42884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81250"/>
            <a:ext cx="4095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1F1F"/>
          </a:solidFill>
          <a:ln xmlns:a="http://schemas.openxmlformats.org/drawingml/2006/main" w="9525">
            <a:solidFill>
              <a:srgbClr val="1F1F1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4E01D6-4A00-4E9C-BE20-8EB8B8E5F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33650"/>
            <a:ext cx="37528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app.useGlobalPipes(</a:t>
            </a:r>
          </a:p>
          <a:p xmlns:a="http://schemas.openxmlformats.org/drawingml/2006/main">
            <a:pPr algn="l">
              <a:defRPr sz="105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new ValidationPipe({</a:t>
            </a:r>
          </a:p>
          <a:p xmlns:a="http://schemas.openxmlformats.org/drawingml/2006/main">
            <a:pPr algn="l">
              <a:defRPr sz="105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  whitelist: true,</a:t>
            </a:r>
          </a:p>
          <a:p xmlns:a="http://schemas.openxmlformats.org/drawingml/2006/main">
            <a:pPr algn="l">
              <a:defRPr sz="105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  forbidNonWhitelisted: true,</a:t>
            </a:r>
          </a:p>
          <a:p xmlns:a="http://schemas.openxmlformats.org/drawingml/2006/main">
            <a:pPr algn="l">
              <a:defRPr sz="105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  transform: true,</a:t>
            </a:r>
          </a:p>
          <a:p xmlns:a="http://schemas.openxmlformats.org/drawingml/2006/main">
            <a:pPr algn="l">
              <a:defRPr sz="105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}),</a:t>
            </a:r>
          </a:p>
          <a:p xmlns:a="http://schemas.openxmlformats.org/drawingml/2006/main">
            <a:pPr algn="l">
              <a:defRPr sz="105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);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FE2AB3-F76E-4D4A-A715-0F00A569E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05300"/>
            <a:ext cx="4095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1E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7F8448-3C35-4DBE-86BE-07B8E77E2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0530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60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A8B679-D0B3-4A94-9122-8A359B043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476750"/>
            <a:ext cx="3676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211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24211F"/>
                </a:solidFill>
                <a:latin typeface="Hiragino Sans"/>
                <a:ea typeface="Hiragino Sans"/>
                <a:cs typeface="Hiragino Sans"/>
              </a:rPr>
              <a:t>ルール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929FF8-7F8C-4F52-BF58-19216F89F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800600"/>
            <a:ext cx="36766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rPr>
              <a:t>DTOはclassで定義する</a:t>
            </a:r>
          </a:p>
          <a:p xmlns:a="http://schemas.openxmlformats.org/drawingml/2006/main">
            <a:pPr algn="l">
              <a:defRPr sz="1125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rPr>
              <a:t>interfaceやtypeだけでは実行時validationに必要なメタデータが残らない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E32E21-CA51-403F-B2D9-29EBD35A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15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2A9A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2A9AF"/>
                </a:solidFill>
                <a:latin typeface="Aptos"/>
                <a:ea typeface="Aptos"/>
                <a:cs typeface="Aptos"/>
              </a:rPr>
              <a:t>K-Typing Backend Style Guide</a:t>
            </a:r>
          </a:p>
        </p:txBody>
      </p:sp>
    </p:spTree>
    <p:extLst>
      <p:ext uri="{BB962C8B-B14F-4D97-AF65-F5344CB8AC3E}">
        <p14:creationId xmlns:p14="http://schemas.microsoft.com/office/powerpoint/2010/main" val="36496004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05DDE6-8C93-47F9-911A-E6EDF5486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E5AF84-4F77-4AC1-AD8E-3E13EFE9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11505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2A9A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2A9AF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71A96E-1FF0-4B17-8DC2-9F8E05B6E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0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078"/>
                </a:solidFill>
                <a:latin typeface="Aptos"/>
                <a:ea typeface="Aptos"/>
                <a:cs typeface="Aptos"/>
              </a:rPr>
              <a:t>CLI FIRST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329544-6FB8-4C30-A66B-2356BB92F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19150"/>
            <a:ext cx="904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4211F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24211F"/>
                </a:solidFill>
                <a:latin typeface="Hiragino Sans"/>
                <a:ea typeface="Hiragino Sans"/>
                <a:cs typeface="Hiragino Sans"/>
              </a:rPr>
              <a:t>新規ファイルはNest CLIで作る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CA5428-50F9-4ABC-8A02-79577205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66850"/>
            <a:ext cx="838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rPr>
              <a:t>タイポ、登録漏れ、命名揺れを減らす</a:t>
            </a:r>
          </a:p>
          <a:p xmlns:a="http://schemas.openxmlformats.org/drawingml/2006/main">
            <a:pPr algn="l">
              <a:defRPr sz="1350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rPr>
              <a:t>まずCLI、細部は自分で調整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CE79F9-DB80-4E6F-A401-239FE1148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835450-19BE-4B9C-9721-32D4BBD0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56197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1F1F"/>
          </a:solidFill>
          <a:ln xmlns:a="http://schemas.openxmlformats.org/drawingml/2006/main" w="9525">
            <a:solidFill>
              <a:srgbClr val="1F1F1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A496A9-5131-46A2-802F-0291C1BB1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527685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84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# feature一式をまとめて作る</a:t>
            </a:r>
          </a:p>
          <a:p xmlns:a="http://schemas.openxmlformats.org/drawingml/2006/main">
            <a:pPr algn="l">
              <a:defRPr sz="84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84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nest g resource users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4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84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# 個別に作る</a:t>
            </a:r>
          </a:p>
          <a:p xmlns:a="http://schemas.openxmlformats.org/drawingml/2006/main">
            <a:pPr algn="l">
              <a:defRPr sz="84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84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nest g module users</a:t>
            </a:r>
          </a:p>
          <a:p xmlns:a="http://schemas.openxmlformats.org/drawingml/2006/main">
            <a:pPr algn="l">
              <a:defRPr sz="84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84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nest g controller users</a:t>
            </a:r>
          </a:p>
          <a:p xmlns:a="http://schemas.openxmlformats.org/drawingml/2006/main">
            <a:pPr algn="l">
              <a:defRPr sz="84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84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nest g service users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4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84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# 認証・横断処理</a:t>
            </a:r>
          </a:p>
          <a:p xmlns:a="http://schemas.openxmlformats.org/drawingml/2006/main">
            <a:pPr algn="l">
              <a:defRPr sz="84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84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nest g guard auth/guards/jwt-auth</a:t>
            </a:r>
          </a:p>
          <a:p xmlns:a="http://schemas.openxmlformats.org/drawingml/2006/main">
            <a:pPr algn="l">
              <a:defRPr sz="84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84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nest g interceptor common/interceptors/logging</a:t>
            </a:r>
          </a:p>
          <a:p xmlns:a="http://schemas.openxmlformats.org/drawingml/2006/main">
            <a:pPr algn="l">
              <a:defRPr sz="84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84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nest g pipe common/pipes/parse-object-id</a:t>
            </a:r>
          </a:p>
          <a:p xmlns:a="http://schemas.openxmlformats.org/drawingml/2006/main">
            <a:pPr algn="l">
              <a:defRPr sz="84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84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nest g filter common/filters/http-exception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4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84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# DTO / Provider</a:t>
            </a:r>
          </a:p>
          <a:p xmlns:a="http://schemas.openxmlformats.org/drawingml/2006/main">
            <a:pPr algn="l">
              <a:defRPr sz="84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84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nest g class users/dto/create-user.dto --no-spec</a:t>
            </a:r>
          </a:p>
          <a:p xmlns:a="http://schemas.openxmlformats.org/drawingml/2006/main">
            <a:pPr algn="l">
              <a:defRPr sz="84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84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nest g provider users/repositories/user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8DAD48-DFA0-406A-9283-5DB63FCD7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05050"/>
            <a:ext cx="3810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1E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3AA626-C262-4B84-9A05-F51B6FB5F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05050"/>
            <a:ext cx="476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60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FA85AC-3879-4DF2-BC91-0C89B97C8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476500"/>
            <a:ext cx="3390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211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24211F"/>
                </a:solidFill>
                <a:latin typeface="Hiragino Sans"/>
                <a:ea typeface="Hiragino Sans"/>
                <a:cs typeface="Hiragino Sans"/>
              </a:rPr>
              <a:t>最初に使う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9F85F3-C753-46EB-9882-025A853B2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800350"/>
            <a:ext cx="33909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rPr>
              <a:t>`nest g resource` はModule / Controller / Service / DTOの雛形をまとめて作れる</a:t>
            </a:r>
          </a:p>
          <a:p xmlns:a="http://schemas.openxmlformats.org/drawingml/2006/main">
            <a:pPr algn="l">
              <a:defRPr sz="1125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rPr>
              <a:t>REST開発の初期作成に便利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93A804-05C5-4E0A-BA8F-35123A7CE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67150"/>
            <a:ext cx="3810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1E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64B37F-182F-42A5-B3E0-25AF0BD66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67150"/>
            <a:ext cx="47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D2A4C0-8A34-4A12-8112-F9BB6DDBD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038600"/>
            <a:ext cx="3390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211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24211F"/>
                </a:solidFill>
                <a:latin typeface="Hiragino Sans"/>
                <a:ea typeface="Hiragino Sans"/>
                <a:cs typeface="Hiragino Sans"/>
              </a:rPr>
              <a:t>個別に使う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DB9A8D-FD20-4344-97E9-FAAD7EF7B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62450"/>
            <a:ext cx="3390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rPr>
              <a:t>既存featureへGuard、Pipe、Interceptor、Filterを足すときは個別generatorを使う</a:t>
            </a:r>
          </a:p>
          <a:p xmlns:a="http://schemas.openxmlformats.org/drawingml/2006/main">
            <a:pPr algn="l">
              <a:defRPr sz="1125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rPr>
              <a:t>配置先のパスを明示する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47EF21-C15E-4241-92A9-829CA579B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200650"/>
            <a:ext cx="3810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1E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7E3C8D-5BCC-422B-ACD9-142979250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20065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5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D71D63-970B-4167-943E-2E40A3154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72100"/>
            <a:ext cx="3390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211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24211F"/>
                </a:solidFill>
                <a:latin typeface="Hiragino Sans"/>
                <a:ea typeface="Hiragino Sans"/>
                <a:cs typeface="Hiragino Sans"/>
              </a:rPr>
              <a:t>禁止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6C4F6D-F46D-491F-9ED8-FD80186D6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695950"/>
            <a:ext cx="3390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rPr>
              <a:t>手作成しない、登録漏れと命名揺れを避ける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BB32E1-3431-4554-9B37-F4822728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15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2A9A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2A9AF"/>
                </a:solidFill>
                <a:latin typeface="Aptos"/>
                <a:ea typeface="Aptos"/>
                <a:cs typeface="Aptos"/>
              </a:rPr>
              <a:t>K-Typing Backend Style Guide</a:t>
            </a:r>
          </a:p>
        </p:txBody>
      </p:sp>
    </p:spTree>
    <p:extLst>
      <p:ext uri="{BB962C8B-B14F-4D97-AF65-F5344CB8AC3E}">
        <p14:creationId xmlns:p14="http://schemas.microsoft.com/office/powerpoint/2010/main" val="189400302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E7D32D-C1ED-462B-AA73-3820F71F8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975DA2-88B1-4503-AB70-4297DC7F8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11505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2A9A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2A9AF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E339D5-978B-4125-A06F-0241E3587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0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078"/>
                </a:solidFill>
                <a:latin typeface="Aptos"/>
                <a:ea typeface="Aptos"/>
                <a:cs typeface="Aptos"/>
              </a:rPr>
              <a:t>DEPENDENCY INJECTION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BCA22A-6A0C-477D-A87B-C715473D9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19150"/>
            <a:ext cx="904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4211F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24211F"/>
                </a:solidFill>
                <a:latin typeface="Hiragino Sans"/>
                <a:ea typeface="Hiragino Sans"/>
                <a:cs typeface="Hiragino Sans"/>
              </a:rPr>
              <a:t>依存は new せずconstructorで注入する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063F8E-E6C6-4AC0-ADA9-1AE0948AF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66850"/>
            <a:ext cx="838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rPr>
              <a:t>NestのIoCコンテナにライフサイクルと依存解決を任せる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D6087E-B04D-49FE-8DB8-C4BDF91D9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5C5641-B2D7-41E0-AF0F-B0E7ED1F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26B"/>
          </a:solidFill>
          <a:ln xmlns:a="http://schemas.openxmlformats.org/drawingml/2006/main" w="9525">
            <a:solidFill>
              <a:srgbClr val="20B26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16CFFB-8DF8-49FB-ACC2-F4516D493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19350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85D7EB-8C84-4CA9-AD54-F2107C0AE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4953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1F1F"/>
          </a:solidFill>
          <a:ln xmlns:a="http://schemas.openxmlformats.org/drawingml/2006/main" w="9525">
            <a:solidFill>
              <a:srgbClr val="1F1F1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312596-4DB3-4C29-A5B5-C9B0C95DE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14650"/>
            <a:ext cx="461010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@Injectable()</a:t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export class UsersService {</a:t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constructor(</a:t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  private readonly prisma: PrismaService,</a:t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) {}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async findByEmail(email: string) {</a:t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  return this.prisma.user.findFirst({</a:t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    where: { email },</a:t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  });</a:t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}</a:t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66AAAF-25EB-45E9-886D-B3AA71358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8125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53D"/>
          </a:solidFill>
          <a:ln xmlns:a="http://schemas.openxmlformats.org/drawingml/2006/main" w="9525">
            <a:solidFill>
              <a:srgbClr val="D645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8C01EF-5D62-40B2-9005-4A16024C6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19350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DON'T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BB59BB-6CD1-4162-88FE-E38735DF3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62250"/>
            <a:ext cx="4953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1F1F"/>
          </a:solidFill>
          <a:ln xmlns:a="http://schemas.openxmlformats.org/drawingml/2006/main" w="9525">
            <a:solidFill>
              <a:srgbClr val="1F1F1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0E0249-E8C6-4BE8-85B8-E8F89EE1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914650"/>
            <a:ext cx="461010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@Injectable()</a:t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export class UsersService {</a:t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private prisma = new PrismaService();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async findByEmail(email: string) {</a:t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  return this.prisma.user.findFirst({</a:t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    where: { email },</a:t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  });</a:t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}</a:t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9BA1B0-B808-4F3B-8118-CE93F4672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15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2A9A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2A9AF"/>
                </a:solidFill>
                <a:latin typeface="Aptos"/>
                <a:ea typeface="Aptos"/>
                <a:cs typeface="Aptos"/>
              </a:rPr>
              <a:t>K-Typing Backend Style Guide</a:t>
            </a:r>
          </a:p>
        </p:txBody>
      </p:sp>
    </p:spTree>
    <p:extLst>
      <p:ext uri="{BB962C8B-B14F-4D97-AF65-F5344CB8AC3E}">
        <p14:creationId xmlns:p14="http://schemas.microsoft.com/office/powerpoint/2010/main" val="94795948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AAEE5F-BBDE-45FF-8AB3-D206D5C41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D92B45-2C8C-4332-8E7C-93B939FA3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11505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2A9A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2A9AF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2EEB44-80BA-43D8-91F2-C87EEE5E1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0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078"/>
                </a:solidFill>
                <a:latin typeface="Aptos"/>
                <a:ea typeface="Aptos"/>
                <a:cs typeface="Aptos"/>
              </a:rPr>
              <a:t>K-TYPING RULES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7D3176-9639-4355-8C64-15270B035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19150"/>
            <a:ext cx="904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4211F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24211F"/>
                </a:solidFill>
                <a:latin typeface="Hiragino Sans"/>
                <a:ea typeface="Hiragino Sans"/>
                <a:cs typeface="Hiragino Sans"/>
              </a:rPr>
              <a:t>本アプリでの実装チェックリスト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F2870D-A7D6-4E49-A833-267BEAC9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66850"/>
            <a:ext cx="838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rPr>
              <a:t>迷ったらこの順番で確認する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64A916-0774-4E91-8792-004C68D16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BF952A-23CD-49E4-AEFE-522E9B85D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4762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1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5F53D1-C169-4494-AAF8-BC8FA9557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2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3A40D7-F1C4-4138-9752-550084B16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52700"/>
            <a:ext cx="4343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211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24211F"/>
                </a:solidFill>
                <a:latin typeface="Hiragino Sans"/>
                <a:ea typeface="Hiragino Sans"/>
                <a:cs typeface="Hiragino Sans"/>
              </a:rPr>
              <a:t>Auth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9F3D77-5117-4AF8-86EB-2224FA113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76550"/>
            <a:ext cx="4343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rPr>
              <a:t>AuthControllerはsignup/signin/signoutのみ</a:t>
            </a:r>
          </a:p>
          <a:p xmlns:a="http://schemas.openxmlformats.org/drawingml/2006/main">
            <a:pPr algn="l">
              <a:defRPr sz="1125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rPr>
              <a:t>password hashとJWT発行はAuthService</a:t>
            </a:r>
          </a:p>
          <a:p xmlns:a="http://schemas.openxmlformats.org/drawingml/2006/main">
            <a:pPr algn="l">
              <a:defRPr sz="1125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rPr>
              <a:t>User作成はUsersService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EF1EC8-4879-45C7-9BC0-23C79A26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81250"/>
            <a:ext cx="4762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1E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85A401-6123-4008-954C-08BDBF733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812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60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BE4C5D-61EE-420D-A42F-9BF9F5EC0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52700"/>
            <a:ext cx="4343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211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24211F"/>
                </a:solidFill>
                <a:latin typeface="Hiragino Sans"/>
                <a:ea typeface="Hiragino Sans"/>
                <a:cs typeface="Hiragino Sans"/>
              </a:rPr>
              <a:t>Typing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E77DE3-132E-486B-B998-881718C09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876550"/>
            <a:ext cx="4343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rPr>
              <a:t>TypingSessionsControllerはREST入口</a:t>
            </a:r>
          </a:p>
          <a:p xmlns:a="http://schemas.openxmlformats.org/drawingml/2006/main">
            <a:pPr algn="l">
              <a:defRPr sz="1125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rPr>
              <a:t>判定はTypingJudgeService、保存/集計はTypingSessionsService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960AC8-03A5-4837-86E6-B12D23CCE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100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2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9B4735-6029-422D-9062-5ABBEE4D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43350"/>
            <a:ext cx="96964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11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24211F"/>
                </a:solidFill>
                <a:latin typeface="Hiragino Sans"/>
                <a:ea typeface="Hiragino Sans"/>
                <a:cs typeface="Hiragino Sans"/>
              </a:rPr>
              <a:t>Moduleは機能単位: auth / users / onboarding / home / lessons / typing / vocab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C98B12-6486-484F-B5A5-BE3963AC7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243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2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103F0E-1260-409B-BF97-63CF53B3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57675"/>
            <a:ext cx="96964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11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24211F"/>
                </a:solidFill>
                <a:latin typeface="Hiragino Sans"/>
                <a:ea typeface="Hiragino Sans"/>
                <a:cs typeface="Hiragino Sans"/>
              </a:rPr>
              <a:t>DTOなしの@Body()は禁止、anyも原則禁止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FC554C-2640-4372-856B-7382080B1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386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2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259B51-5CB8-4157-9F95-EB01773F6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72000"/>
            <a:ext cx="96964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11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24211F"/>
                </a:solidFill>
                <a:latin typeface="Hiragino Sans"/>
                <a:ea typeface="Hiragino Sans"/>
                <a:cs typeface="Hiragino Sans"/>
              </a:rPr>
              <a:t>Controller内でPrismaを直接呼ばない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497020-3DB9-41ED-8C77-0D5E6449D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2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613B0D-415B-4215-A06F-A45786DCB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86325"/>
            <a:ext cx="96964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11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24211F"/>
                </a:solidFill>
                <a:latin typeface="Hiragino Sans"/>
                <a:ea typeface="Hiragino Sans"/>
                <a:cs typeface="Hiragino Sans"/>
              </a:rPr>
              <a:t>Service間共有はexports/importsで明示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7B8A59-4B51-48ED-88FB-12151B943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673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2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26D671-B446-4751-9DAA-85291F3E5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200650"/>
            <a:ext cx="96964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11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24211F"/>
                </a:solidFill>
                <a:latin typeface="Hiragino Sans"/>
                <a:ea typeface="Hiragino Sans"/>
                <a:cs typeface="Hiragino Sans"/>
              </a:rPr>
              <a:t>@Global()は使わない、例外が必要なら理由をREADMEか設計書に残す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39093A-C87A-4C48-80A9-495772F77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816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2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3AF678-75D5-48A9-8259-C5B4A66DD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514975"/>
            <a:ext cx="96964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11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24211F"/>
                </a:solidFill>
                <a:latin typeface="Hiragino Sans"/>
                <a:ea typeface="Hiragino Sans"/>
                <a:cs typeface="Hiragino Sans"/>
              </a:rPr>
              <a:t>REST APIのレスポンスDTOは05_API設計シートと揃える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DEACF7-CBAE-4920-83EF-E4DE15C00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15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2A9A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2A9AF"/>
                </a:solidFill>
                <a:latin typeface="Aptos"/>
                <a:ea typeface="Aptos"/>
                <a:cs typeface="Aptos"/>
              </a:rPr>
              <a:t>K-Typing Backend Style Guide</a:t>
            </a:r>
          </a:p>
        </p:txBody>
      </p:sp>
    </p:spTree>
    <p:extLst>
      <p:ext uri="{BB962C8B-B14F-4D97-AF65-F5344CB8AC3E}">
        <p14:creationId xmlns:p14="http://schemas.microsoft.com/office/powerpoint/2010/main" val="86627583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C3BAC0-A02D-42C0-AE1E-F223392B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35BA42-F596-42BB-B6CE-8FF0902DF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11505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2A9A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2A9AF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71FFFB-FD9F-475D-9134-D602E3B6D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0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078"/>
                </a:solidFill>
                <a:latin typeface="Aptos"/>
                <a:ea typeface="Aptos"/>
                <a:cs typeface="Aptos"/>
              </a:rPr>
              <a:t>NAMING RULES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EE2CA5-7376-4767-9C80-3C4F4E49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19150"/>
            <a:ext cx="904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4211F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24211F"/>
                </a:solidFill>
                <a:latin typeface="Hiragino Sans"/>
                <a:ea typeface="Hiragino Sans"/>
                <a:cs typeface="Hiragino Sans"/>
              </a:rPr>
              <a:t>命名規則を固定する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CD46F9-3BE6-4055-ACAB-4FC69A132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66850"/>
            <a:ext cx="838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rPr>
              <a:t>ファイル、メソッド、Prisma、DB物理名の揺れをなくす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24CA5F-0ABB-4C45-AC0B-66F9BE78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46DC06-5C16-44C8-A78A-35F033B20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53340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1F1F"/>
          </a:solidFill>
          <a:ln xmlns:a="http://schemas.openxmlformats.org/drawingml/2006/main" w="9525">
            <a:solidFill>
              <a:srgbClr val="1F1F1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449FC5-6241-4066-8028-D52AF814F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499110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// file / directory</a:t>
            </a:r>
          </a:p>
          <a:p xmlns:a="http://schemas.openxmlformats.org/drawingml/2006/main">
            <a:pPr algn="l">
              <a:defRPr sz="863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users/</a:t>
            </a:r>
          </a:p>
          <a:p xmlns:a="http://schemas.openxmlformats.org/drawingml/2006/main">
            <a:pPr algn="l">
              <a:defRPr sz="863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users.module.ts</a:t>
            </a:r>
          </a:p>
          <a:p xmlns:a="http://schemas.openxmlformats.org/drawingml/2006/main">
            <a:pPr algn="l">
              <a:defRPr sz="863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users.controller.ts</a:t>
            </a:r>
          </a:p>
          <a:p xmlns:a="http://schemas.openxmlformats.org/drawingml/2006/main">
            <a:pPr algn="l">
              <a:defRPr sz="863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users.service.ts</a:t>
            </a:r>
          </a:p>
          <a:p xmlns:a="http://schemas.openxmlformats.org/drawingml/2006/main">
            <a:pPr algn="l">
              <a:defRPr sz="863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dto/</a:t>
            </a:r>
          </a:p>
          <a:p xmlns:a="http://schemas.openxmlformats.org/drawingml/2006/main">
            <a:pPr algn="l">
              <a:defRPr sz="863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  create-user.dto.ts</a:t>
            </a:r>
          </a:p>
          <a:p xmlns:a="http://schemas.openxmlformats.org/drawingml/2006/main">
            <a:pPr algn="l">
              <a:defRPr sz="863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  update-profile.dto.ts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63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// class / method</a:t>
            </a:r>
          </a:p>
          <a:p xmlns:a="http://schemas.openxmlformats.org/drawingml/2006/main">
            <a:pPr algn="l">
              <a:defRPr sz="863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export class UsersService {</a:t>
            </a:r>
          </a:p>
          <a:p xmlns:a="http://schemas.openxmlformats.org/drawingml/2006/main">
            <a:pPr algn="l">
              <a:defRPr sz="863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findById(id: string) {}</a:t>
            </a:r>
          </a:p>
          <a:p xmlns:a="http://schemas.openxmlformats.org/drawingml/2006/main">
            <a:pPr algn="l">
              <a:defRPr sz="863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findByEmail(email: string) {}</a:t>
            </a:r>
          </a:p>
          <a:p xmlns:a="http://schemas.openxmlformats.org/drawingml/2006/main">
            <a:pPr algn="l">
              <a:defRPr sz="863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create(dto: CreateUserDto) {}</a:t>
            </a:r>
          </a:p>
          <a:p xmlns:a="http://schemas.openxmlformats.org/drawingml/2006/main">
            <a:pPr algn="l">
              <a:defRPr sz="863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updateProfile(id: string, dto: UpdateProfileDto) {}</a:t>
            </a:r>
          </a:p>
          <a:p xmlns:a="http://schemas.openxmlformats.org/drawingml/2006/main">
            <a:pPr algn="l">
              <a:defRPr sz="863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67579C-74E2-401E-BFCC-93FA38565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66950"/>
            <a:ext cx="40957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1F1F"/>
          </a:solidFill>
          <a:ln xmlns:a="http://schemas.openxmlformats.org/drawingml/2006/main" w="9525">
            <a:solidFill>
              <a:srgbClr val="1F1F1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598A4B-8395-41C5-A35A-BDAC52741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19350"/>
            <a:ext cx="3752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model User {</a:t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id          String   @id @default(uuid()) @db.Uuid</a:t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displayName String? @map("display_name")</a:t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createdAt   DateTime @default(now()) @map("created_at")</a:t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updatedAt   DateTime @updatedAt @map("updated_at")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  @@map("users")</a:t>
            </a:r>
          </a:p>
          <a:p xmlns:a="http://schemas.openxmlformats.org/drawingml/2006/main">
            <a:pPr algn="l">
              <a:defRPr sz="900" b="0">
                <a:solidFill>
                  <a:srgbClr val="F8F9FA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8F9FA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D3E666-996D-442B-92FE-2042A3E2B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43350"/>
            <a:ext cx="20955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1E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55541A-AD90-4E11-A0E8-1354EAE67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43350"/>
            <a:ext cx="47625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60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07DC23-6555-42C7-98A6-CBD947BA9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14800"/>
            <a:ext cx="1676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211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24211F"/>
                </a:solidFill>
                <a:latin typeface="Hiragino Sans"/>
                <a:ea typeface="Hiragino Sans"/>
                <a:cs typeface="Hiragino Sans"/>
              </a:rPr>
              <a:t>TypeScript側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DC2076-0749-49F4-87A3-9F2F6482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495800"/>
            <a:ext cx="16764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rPr>
              <a:t>ファイル名はkebab-case</a:t>
            </a:r>
          </a:p>
          <a:p xmlns:a="http://schemas.openxmlformats.org/drawingml/2006/main">
            <a:pPr algn="l">
              <a:defRPr sz="1050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rPr>
              <a:t>クラス名はPascalCase</a:t>
            </a:r>
          </a:p>
          <a:p xmlns:a="http://schemas.openxmlformats.org/drawingml/2006/main">
            <a:pPr algn="l">
              <a:defRPr sz="1050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rPr>
              <a:t>変数・メソッド名はcamelCase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426C18-971C-439D-8B3C-1E97D67B2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943350"/>
            <a:ext cx="20955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1E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C770A2-B4A8-40A2-B953-442E18D96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943350"/>
            <a:ext cx="47625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2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089C3D-09C8-4309-B098-FCFE3A5B0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114800"/>
            <a:ext cx="1676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211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24211F"/>
                </a:solidFill>
                <a:latin typeface="Hiragino Sans"/>
                <a:ea typeface="Hiragino Sans"/>
                <a:cs typeface="Hiragino Sans"/>
              </a:rPr>
              <a:t>DB側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44F021-57DF-4257-BFA9-DD514BCFE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495800"/>
            <a:ext cx="16764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rPr>
              <a:t>テーブル名はsnake_caseの複数形</a:t>
            </a:r>
          </a:p>
          <a:p xmlns:a="http://schemas.openxmlformats.org/drawingml/2006/main">
            <a:pPr algn="l">
              <a:defRPr sz="1050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rPr>
              <a:t>カラム名はsnake_case</a:t>
            </a:r>
          </a:p>
          <a:p xmlns:a="http://schemas.openxmlformats.org/drawingml/2006/main">
            <a:pPr algn="l">
              <a:defRPr sz="1050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rPr>
              <a:t>Prisma modelは単数形PascalCase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9FD2A3-FFBB-40D0-8FB6-085B6112D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15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2A9A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2A9AF"/>
                </a:solidFill>
                <a:latin typeface="Aptos"/>
                <a:ea typeface="Aptos"/>
                <a:cs typeface="Aptos"/>
              </a:rPr>
              <a:t>K-Typing Backend Style Guide</a:t>
            </a:r>
          </a:p>
        </p:txBody>
      </p:sp>
    </p:spTree>
    <p:extLst>
      <p:ext uri="{BB962C8B-B14F-4D97-AF65-F5344CB8AC3E}">
        <p14:creationId xmlns:p14="http://schemas.microsoft.com/office/powerpoint/2010/main" val="1654514386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4A22F5-2A87-4793-8F1E-85781BEA5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C6E9A7-A68D-4E19-AF75-627FC7E53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115050"/>
            <a:ext cx="68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2A9A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2A9AF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E606D9-EF57-49D3-99A8-3F945DF8D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0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078"/>
                </a:solidFill>
                <a:latin typeface="Aptos"/>
                <a:ea typeface="Aptos"/>
                <a:cs typeface="Aptos"/>
              </a:rPr>
              <a:t>SOURCES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BA4157-5EE0-49E0-B5CA-816B97D2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19150"/>
            <a:ext cx="904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4211F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24211F"/>
                </a:solidFill>
                <a:latin typeface="Hiragino Sans"/>
                <a:ea typeface="Hiragino Sans"/>
                <a:cs typeface="Hiragino Sans"/>
              </a:rPr>
              <a:t>参照したNestJS公式ドキュメント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F3269D-4415-4BCB-AEBE-B9F985945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66850"/>
            <a:ext cx="838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rPr>
              <a:t>設計ルールの根拠、実装時に迷ったら公式の該当章へ戻る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DE49FD-0446-41B4-A02C-C0D25018D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704645-3662-4FAC-A72B-0F375F938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8125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21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4211F"/>
                </a:solidFill>
                <a:latin typeface="Aptos"/>
                <a:ea typeface="Aptos"/>
                <a:cs typeface="Aptos"/>
              </a:rPr>
              <a:t>Modules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BFB1A9-5C87-40AF-B2B0-4E05DA9B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812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960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9606F"/>
                </a:solidFill>
                <a:latin typeface="Aptos"/>
                <a:ea typeface="Aptos"/>
                <a:cs typeface="Aptos"/>
              </a:rPr>
              <a:t>https://docs.nestjs.com/modules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277748-1347-4736-B5E1-99C79D104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09850"/>
            <a:ext cx="742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rPr>
              <a:t>Feature module、shared module、exports/imports、global moduleの考え方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C17FE7-486B-4092-BC46-19798939B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990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21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4211F"/>
                </a:solidFill>
                <a:latin typeface="Aptos"/>
                <a:ea typeface="Aptos"/>
                <a:cs typeface="Aptos"/>
              </a:rPr>
              <a:t>Controllers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CAA3E5-9AB7-4AC1-BA1A-A51886F4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099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960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9606F"/>
                </a:solidFill>
                <a:latin typeface="Aptos"/>
                <a:ea typeface="Aptos"/>
                <a:cs typeface="Aptos"/>
              </a:rPr>
              <a:t>https://docs.nestjs.com/controllers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92EC05-785B-421D-8A6A-D94B2F7CB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38500"/>
            <a:ext cx="742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rPr>
              <a:t>HTTP method decorator、ControllerはModuleに所属すること、CLI generator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25A529-6992-4D74-9435-28514EDA5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3855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21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4211F"/>
                </a:solidFill>
                <a:latin typeface="Aptos"/>
                <a:ea typeface="Aptos"/>
                <a:cs typeface="Aptos"/>
              </a:rPr>
              <a:t>Providers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8A13F1-EE93-4923-AF5B-32B6C2A08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385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960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9606F"/>
                </a:solidFill>
                <a:latin typeface="Aptos"/>
                <a:ea typeface="Aptos"/>
                <a:cs typeface="Aptos"/>
              </a:rPr>
              <a:t>https://docs.nestjs.com/components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09C3B5-658B-4E69-B3E4-438B70A1D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67150"/>
            <a:ext cx="742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rPr>
              <a:t>Provider、Service、DI、constructor injection、manual instantiation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CF9409-78CF-4379-A91F-159822DCA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6720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21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4211F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A94931-2DC3-4E61-945A-07215C4C0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672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960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9606F"/>
                </a:solidFill>
                <a:latin typeface="Aptos"/>
                <a:ea typeface="Aptos"/>
                <a:cs typeface="Aptos"/>
              </a:rPr>
              <a:t>https://docs.nestjs.com/techniques/validation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4C3694-D68B-490E-BBA3-D0E9A4A1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95800"/>
            <a:ext cx="742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rPr>
              <a:t>DTO、ValidationPipe、class-validator、whitelist/transform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14B55A-5C4C-405D-921D-C0E54F7F5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9585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21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4211F"/>
                </a:solidFill>
                <a:latin typeface="Aptos"/>
                <a:ea typeface="Aptos"/>
                <a:cs typeface="Aptos"/>
              </a:rPr>
              <a:t>Injection scopes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F8234D-C8FD-43A2-8D26-50A742408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95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9606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9606F"/>
                </a:solidFill>
                <a:latin typeface="Aptos"/>
                <a:ea typeface="Aptos"/>
                <a:cs typeface="Aptos"/>
              </a:rPr>
              <a:t>https://docs.nestjs.com/fundamentals/injection-scopes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357AF7-4B5A-4F09-BE07-E5DC18048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124450"/>
            <a:ext cx="742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687078"/>
                </a:solidFill>
                <a:latin typeface="Hiragino Sans"/>
                <a:ea typeface="Hiragino Sans"/>
                <a:cs typeface="Hiragino Sans"/>
              </a:rPr>
              <a:t>Provider/Controllerのライフタイムとscopeの注意点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29B102-6029-4EB5-A823-736DB196D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15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2A9A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2A9AF"/>
                </a:solidFill>
                <a:latin typeface="Aptos"/>
                <a:ea typeface="Aptos"/>
                <a:cs typeface="Aptos"/>
              </a:rPr>
              <a:t>K-Typing Backend Style Guide</a:t>
            </a:r>
          </a:p>
        </p:txBody>
      </p:sp>
    </p:spTree>
    <p:extLst>
      <p:ext uri="{BB962C8B-B14F-4D97-AF65-F5344CB8AC3E}">
        <p14:creationId xmlns:p14="http://schemas.microsoft.com/office/powerpoint/2010/main" val="10906084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2026-05-24T09:35:07.8510000Z</dcterms:created>
  <dcterms:modified xsi:type="dcterms:W3CDTF">2026-05-24T09:35:07.8510000Z</dcterms:modified>
</coreProperties>
</file>